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18"/>
  </p:notesMasterIdLst>
  <p:sldIdLst>
    <p:sldId id="390" r:id="rId3"/>
    <p:sldId id="262" r:id="rId4"/>
    <p:sldId id="380" r:id="rId5"/>
    <p:sldId id="381" r:id="rId6"/>
    <p:sldId id="382" r:id="rId7"/>
    <p:sldId id="383" r:id="rId8"/>
    <p:sldId id="384" r:id="rId9"/>
    <p:sldId id="386" r:id="rId10"/>
    <p:sldId id="396" r:id="rId11"/>
    <p:sldId id="395" r:id="rId12"/>
    <p:sldId id="387" r:id="rId13"/>
    <p:sldId id="388" r:id="rId14"/>
    <p:sldId id="392" r:id="rId15"/>
    <p:sldId id="393" r:id="rId16"/>
    <p:sldId id="39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03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4T02:10:26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F5FD2-31F0-4C0B-95CA-811A8A4E6F51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01942-F20C-4A08-95F5-2A6986C15C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2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64F1C930-B425-4849-901E-EDC7E9573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53A2A7-0643-4378-A3E0-E2766DCD4D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68474" y="193448"/>
            <a:ext cx="918940" cy="88582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D08D55B-1D39-49F6-BDF9-B7CE6C5D7DC3}"/>
              </a:ext>
            </a:extLst>
          </p:cNvPr>
          <p:cNvSpPr/>
          <p:nvPr userDrawn="1"/>
        </p:nvSpPr>
        <p:spPr>
          <a:xfrm>
            <a:off x="0" y="1285876"/>
            <a:ext cx="12192000" cy="46214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2" descr="IEEE - Advancing Technology for Humanity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142" y="305368"/>
            <a:ext cx="1178881" cy="66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50012831-FB05-4DB8-8286-16ACE646F9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96" y="147389"/>
            <a:ext cx="2805289" cy="103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7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7C0E-ACE4-48B6-B244-F66B32AD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6875" y="6442075"/>
            <a:ext cx="2743200" cy="365125"/>
          </a:xfrm>
        </p:spPr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08D55B-1D39-49F6-BDF9-B7CE6C5D7DC3}"/>
              </a:ext>
            </a:extLst>
          </p:cNvPr>
          <p:cNvSpPr/>
          <p:nvPr userDrawn="1"/>
        </p:nvSpPr>
        <p:spPr>
          <a:xfrm>
            <a:off x="-6350" y="0"/>
            <a:ext cx="12192000" cy="486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583BE3-7F27-474B-8977-CB25A2A7B5C3}"/>
              </a:ext>
            </a:extLst>
          </p:cNvPr>
          <p:cNvSpPr/>
          <p:nvPr userDrawn="1"/>
        </p:nvSpPr>
        <p:spPr>
          <a:xfrm>
            <a:off x="330200" y="889000"/>
            <a:ext cx="11544300" cy="5575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0200" y="91661"/>
            <a:ext cx="10515600" cy="797340"/>
          </a:xfrm>
        </p:spPr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3381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64F1C930-B425-4849-901E-EDC7E9573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08D55B-1D39-49F6-BDF9-B7CE6C5D7DC3}"/>
              </a:ext>
            </a:extLst>
          </p:cNvPr>
          <p:cNvSpPr/>
          <p:nvPr userDrawn="1"/>
        </p:nvSpPr>
        <p:spPr>
          <a:xfrm>
            <a:off x="0" y="1285876"/>
            <a:ext cx="12192000" cy="46214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Communication Resources - Biomedical Engineering">
            <a:extLst>
              <a:ext uri="{FF2B5EF4-FFF2-40B4-BE49-F238E27FC236}">
                <a16:creationId xmlns:a16="http://schemas.microsoft.com/office/drawing/2014/main" id="{EEAB3261-4FDF-4D0C-7342-F59A926EC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77" y="0"/>
            <a:ext cx="4490915" cy="12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50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7C0E-ACE4-48B6-B244-F66B32AD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6875" y="6442075"/>
            <a:ext cx="2743200" cy="365125"/>
          </a:xfrm>
        </p:spPr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08D55B-1D39-49F6-BDF9-B7CE6C5D7DC3}"/>
              </a:ext>
            </a:extLst>
          </p:cNvPr>
          <p:cNvSpPr/>
          <p:nvPr userDrawn="1"/>
        </p:nvSpPr>
        <p:spPr>
          <a:xfrm>
            <a:off x="-6350" y="0"/>
            <a:ext cx="12192000" cy="486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583BE3-7F27-474B-8977-CB25A2A7B5C3}"/>
              </a:ext>
            </a:extLst>
          </p:cNvPr>
          <p:cNvSpPr/>
          <p:nvPr userDrawn="1"/>
        </p:nvSpPr>
        <p:spPr>
          <a:xfrm>
            <a:off x="330200" y="889000"/>
            <a:ext cx="11544300" cy="5575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0200" y="91661"/>
            <a:ext cx="10515600" cy="797340"/>
          </a:xfrm>
        </p:spPr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7100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BCFF35-802F-480F-B853-95CFF811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FE3BF-58EC-4CE6-BE15-D32491AD6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5D5329-3041-45D6-931A-AF5CF60C5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49890-BF7F-4409-A8FF-9A8E24AB5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601C4-51C6-4747-8667-BE42B82B3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9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BCFF35-802F-480F-B853-95CFF811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FE3BF-58EC-4CE6-BE15-D32491AD6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5D5329-3041-45D6-931A-AF5CF60C5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49890-BF7F-4409-A8FF-9A8E24AB5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601C4-51C6-4747-8667-BE42B82B3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03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4/24/7880" TargetMode="External"/><Relationship Id="rId2" Type="http://schemas.openxmlformats.org/officeDocument/2006/relationships/hyperlink" Target="https://doi.org/10.48550/arXiv.2411.0953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D9BFAF-39E2-4890-B798-019AC032846D}"/>
              </a:ext>
            </a:extLst>
          </p:cNvPr>
          <p:cNvSpPr txBox="1"/>
          <p:nvPr/>
        </p:nvSpPr>
        <p:spPr>
          <a:xfrm>
            <a:off x="-33991" y="4918993"/>
            <a:ext cx="12185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Edge Computing Machine Learning, EE – EE 590</a:t>
            </a:r>
          </a:p>
          <a:p>
            <a:pPr algn="ctr"/>
            <a:r>
              <a:rPr lang="en-US" altLang="ko-KR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 2025</a:t>
            </a:r>
          </a:p>
        </p:txBody>
      </p:sp>
      <p:sp>
        <p:nvSpPr>
          <p:cNvPr id="6" name="11 CuadroTexto">
            <a:extLst>
              <a:ext uri="{FF2B5EF4-FFF2-40B4-BE49-F238E27FC236}">
                <a16:creationId xmlns:a16="http://schemas.microsoft.com/office/drawing/2014/main" id="{05F308D7-0622-4CFF-BD7D-868C5D53AE8E}"/>
              </a:ext>
            </a:extLst>
          </p:cNvPr>
          <p:cNvSpPr txBox="1"/>
          <p:nvPr/>
        </p:nvSpPr>
        <p:spPr>
          <a:xfrm>
            <a:off x="543721" y="1953300"/>
            <a:ext cx="106925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/>
              <a:t>Real‑Time Walking Speed Estimation &amp; Gait Analysis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Ultrasonic sensor and Edge AI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5 CuadroTexto">
            <a:extLst>
              <a:ext uri="{FF2B5EF4-FFF2-40B4-BE49-F238E27FC236}">
                <a16:creationId xmlns:a16="http://schemas.microsoft.com/office/drawing/2014/main" id="{1DC17484-45DA-48A3-9212-A9336858EF3D}"/>
              </a:ext>
            </a:extLst>
          </p:cNvPr>
          <p:cNvSpPr txBox="1"/>
          <p:nvPr/>
        </p:nvSpPr>
        <p:spPr>
          <a:xfrm>
            <a:off x="1476521" y="4173996"/>
            <a:ext cx="9158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Electrical &amp; Computer Engineering</a:t>
            </a:r>
          </a:p>
        </p:txBody>
      </p:sp>
      <p:sp>
        <p:nvSpPr>
          <p:cNvPr id="8" name="25 CuadroTexto">
            <a:extLst>
              <a:ext uri="{FF2B5EF4-FFF2-40B4-BE49-F238E27FC236}">
                <a16:creationId xmlns:a16="http://schemas.microsoft.com/office/drawing/2014/main" id="{661D1B72-2712-4369-A78E-F5A37EBEA985}"/>
              </a:ext>
            </a:extLst>
          </p:cNvPr>
          <p:cNvSpPr txBox="1"/>
          <p:nvPr/>
        </p:nvSpPr>
        <p:spPr>
          <a:xfrm>
            <a:off x="2698377" y="6044659"/>
            <a:ext cx="671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School of Engineering, UAB</a:t>
            </a:r>
          </a:p>
        </p:txBody>
      </p:sp>
      <p:sp>
        <p:nvSpPr>
          <p:cNvPr id="9" name="25 CuadroTexto">
            <a:extLst>
              <a:ext uri="{FF2B5EF4-FFF2-40B4-BE49-F238E27FC236}">
                <a16:creationId xmlns:a16="http://schemas.microsoft.com/office/drawing/2014/main" id="{D9D4C0E8-AF20-431D-9213-17574A629316}"/>
              </a:ext>
            </a:extLst>
          </p:cNvPr>
          <p:cNvSpPr txBox="1"/>
          <p:nvPr/>
        </p:nvSpPr>
        <p:spPr>
          <a:xfrm>
            <a:off x="0" y="303051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harith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Sai Sathvik Ale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25 CuadroTexto">
            <a:extLst>
              <a:ext uri="{FF2B5EF4-FFF2-40B4-BE49-F238E27FC236}">
                <a16:creationId xmlns:a16="http://schemas.microsoft.com/office/drawing/2014/main" id="{BA1043CA-E45E-F0BE-0BE4-7CE94F398926}"/>
              </a:ext>
            </a:extLst>
          </p:cNvPr>
          <p:cNvSpPr txBox="1"/>
          <p:nvPr/>
        </p:nvSpPr>
        <p:spPr>
          <a:xfrm>
            <a:off x="-40341" y="356587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Abdollah </a:t>
            </a:r>
            <a:r>
              <a:rPr lang="en-US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Mirbozorgi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06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</a:t>
            </a:r>
            <a:endParaRPr lang="ko-KR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5B0F49-E480-32BE-AF3C-588AD7C9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1228397"/>
            <a:ext cx="604364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Motivation &amp; Problem Statement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Comparison &amp; Required Features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System Concept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Validation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Results: Speed Estimation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 &amp; Future Work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Acknowledgements &amp; References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80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AEE735-E5C9-284E-1E84-F3BDC68F4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1121264"/>
            <a:ext cx="77874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marker of motor decline: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walking speed.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Falls, cognitive decline, neurodegenerative risk can be predicted by gait changes.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low‑cost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monitoring in real world.</a:t>
            </a:r>
          </a:p>
        </p:txBody>
      </p:sp>
      <p:pic>
        <p:nvPicPr>
          <p:cNvPr id="7" name="Picture 6" descr="An old person walking with a cane&#10;&#10;AI-generated content may be incorrect.">
            <a:extLst>
              <a:ext uri="{FF2B5EF4-FFF2-40B4-BE49-F238E27FC236}">
                <a16:creationId xmlns:a16="http://schemas.microsoft.com/office/drawing/2014/main" id="{2BF2413F-4CE4-5F56-9CC1-71158A6A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59" y="3797745"/>
            <a:ext cx="3886554" cy="2591036"/>
          </a:xfrm>
          <a:prstGeom prst="rect">
            <a:avLst/>
          </a:prstGeom>
        </p:spPr>
      </p:pic>
      <p:pic>
        <p:nvPicPr>
          <p:cNvPr id="10" name="Picture 9" descr="A person standing in a room&#10;&#10;AI-generated content may be incorrect.">
            <a:extLst>
              <a:ext uri="{FF2B5EF4-FFF2-40B4-BE49-F238E27FC236}">
                <a16:creationId xmlns:a16="http://schemas.microsoft.com/office/drawing/2014/main" id="{A9E428A6-0582-1784-977D-FB42E94A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171" y="2472613"/>
            <a:ext cx="3430792" cy="3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9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F4303-A8E6-493A-ADD4-0EA92BFBB918}"/>
              </a:ext>
            </a:extLst>
          </p:cNvPr>
          <p:cNvSpPr txBox="1"/>
          <p:nvPr/>
        </p:nvSpPr>
        <p:spPr>
          <a:xfrm>
            <a:off x="546780" y="1038559"/>
            <a:ext cx="110857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lab solutions (optical capture, mats, IMUs)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expensive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bulky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lab‑bound.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Wearables often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uncomfortable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require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calibration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low cost wearable that estimates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walking speed (0.5–1.5 m/s)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hip/inter‑leg angle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entirely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on‑device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real‑time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telemetry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work outside controlled labs, with minimal calibration.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3075" name="Picture 3" descr="Pressure Sensing Mats and Walkways | Tekscan">
            <a:extLst>
              <a:ext uri="{FF2B5EF4-FFF2-40B4-BE49-F238E27FC236}">
                <a16:creationId xmlns:a16="http://schemas.microsoft.com/office/drawing/2014/main" id="{B38466FA-844E-8947-729C-4A25861C7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746" y="3429000"/>
            <a:ext cx="3824773" cy="282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84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37BC37-4C1D-74CC-7013-878D7F376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204617"/>
              </p:ext>
            </p:extLst>
          </p:nvPr>
        </p:nvGraphicFramePr>
        <p:xfrm>
          <a:off x="331496" y="1061218"/>
          <a:ext cx="7552871" cy="5380856"/>
        </p:xfrm>
        <a:graphic>
          <a:graphicData uri="http://schemas.openxmlformats.org/drawingml/2006/table">
            <a:tbl>
              <a:tblPr/>
              <a:tblGrid>
                <a:gridCol w="1491582">
                  <a:extLst>
                    <a:ext uri="{9D8B030D-6E8A-4147-A177-3AD203B41FA5}">
                      <a16:colId xmlns:a16="http://schemas.microsoft.com/office/drawing/2014/main" val="1651360371"/>
                    </a:ext>
                  </a:extLst>
                </a:gridCol>
                <a:gridCol w="1969680">
                  <a:extLst>
                    <a:ext uri="{9D8B030D-6E8A-4147-A177-3AD203B41FA5}">
                      <a16:colId xmlns:a16="http://schemas.microsoft.com/office/drawing/2014/main" val="2360350830"/>
                    </a:ext>
                  </a:extLst>
                </a:gridCol>
                <a:gridCol w="2302081">
                  <a:extLst>
                    <a:ext uri="{9D8B030D-6E8A-4147-A177-3AD203B41FA5}">
                      <a16:colId xmlns:a16="http://schemas.microsoft.com/office/drawing/2014/main" val="1486070087"/>
                    </a:ext>
                  </a:extLst>
                </a:gridCol>
                <a:gridCol w="1789528">
                  <a:extLst>
                    <a:ext uri="{9D8B030D-6E8A-4147-A177-3AD203B41FA5}">
                      <a16:colId xmlns:a16="http://schemas.microsoft.com/office/drawing/2014/main" val="2581110363"/>
                    </a:ext>
                  </a:extLst>
                </a:gridCol>
              </a:tblGrid>
              <a:tr h="8968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Required for Our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694296"/>
                  </a:ext>
                </a:extLst>
              </a:tr>
              <a:tr h="1281157">
                <a:tc>
                  <a:txBody>
                    <a:bodyPr/>
                    <a:lstStyle/>
                    <a:p>
                      <a:r>
                        <a:rPr lang="en-US" dirty="0"/>
                        <a:t>Video‑based motion capture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Expensive, fixed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886292"/>
                  </a:ext>
                </a:extLst>
              </a:tr>
              <a:tr h="896809">
                <a:tc>
                  <a:txBody>
                    <a:bodyPr/>
                    <a:lstStyle/>
                    <a:p>
                      <a:r>
                        <a:rPr lang="en-US" dirty="0"/>
                        <a:t>Wearable IMUs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Calibration, comfort trade‑offs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981709"/>
                  </a:ext>
                </a:extLst>
              </a:tr>
              <a:tr h="896809">
                <a:tc>
                  <a:txBody>
                    <a:bodyPr/>
                    <a:lstStyle/>
                    <a:p>
                      <a:r>
                        <a:rPr lang="en-US" dirty="0"/>
                        <a:t>Pressure mats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Accurate gait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Floor‑embedded, non‑portable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368140"/>
                  </a:ext>
                </a:extLst>
              </a:tr>
              <a:tr h="896809">
                <a:tc>
                  <a:txBody>
                    <a:bodyPr/>
                    <a:lstStyle/>
                    <a:p>
                      <a:r>
                        <a:rPr lang="en-US" b="1" dirty="0"/>
                        <a:t>Ultrasonic + Edge AI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 cost, real‑time, 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Needs robust signal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559474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r>
                        <a:rPr lang="en-US"/>
                        <a:t>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363491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20A51FA5-00BC-76FB-3610-BD02EABED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0200" y="59445"/>
            <a:ext cx="669766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&amp; Required Features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1" name="Picture 5" descr="Verification of gait analysis method fusing camera-based pose estimation  and an IMU sensor in various gait conditions | Scientific Reports">
            <a:extLst>
              <a:ext uri="{FF2B5EF4-FFF2-40B4-BE49-F238E27FC236}">
                <a16:creationId xmlns:a16="http://schemas.microsoft.com/office/drawing/2014/main" id="{5523C491-C0AF-C0D9-A522-B15E9791A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536" y="921219"/>
            <a:ext cx="3979968" cy="235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A54F3D-63A6-93DA-3A81-F2AF853B9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476" y="3273901"/>
            <a:ext cx="2466818" cy="316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Concept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4B337D-3257-EAE9-3FAA-487043F17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1007772"/>
            <a:ext cx="813266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HC‑SR04 ultrasonic module mounted at knee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Edge 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ESP32 running lightweight ML &amp; LoRa stack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124" name="Picture 4" descr="Avalanche.org » Snow Depth Sensor">
            <a:extLst>
              <a:ext uri="{FF2B5EF4-FFF2-40B4-BE49-F238E27FC236}">
                <a16:creationId xmlns:a16="http://schemas.microsoft.com/office/drawing/2014/main" id="{7922616B-1AA1-3B43-EA01-EC6A09F1B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572427" y="1093837"/>
            <a:ext cx="3029967" cy="324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9DB7E-D14C-8F01-3730-3DD0FB6D5750}"/>
              </a:ext>
            </a:extLst>
          </p:cNvPr>
          <p:cNvSpPr txBox="1"/>
          <p:nvPr/>
        </p:nvSpPr>
        <p:spPr>
          <a:xfrm>
            <a:off x="8528179" y="1977268"/>
            <a:ext cx="87707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dirty="0"/>
              <a:t>Ultrasonic Sensor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E372A-1BFE-DA59-E42F-6AE68AD36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521" y="4255034"/>
            <a:ext cx="3406435" cy="1844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5E28B0-0484-F29C-5E88-E678C70DE983}"/>
              </a:ext>
            </a:extLst>
          </p:cNvPr>
          <p:cNvSpPr txBox="1"/>
          <p:nvPr/>
        </p:nvSpPr>
        <p:spPr>
          <a:xfrm>
            <a:off x="9405257" y="5890069"/>
            <a:ext cx="87707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dirty="0"/>
              <a:t>Lora 32 Module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64452-7855-9F47-1C9C-B8FB523B59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43" y="2895993"/>
            <a:ext cx="7885622" cy="26747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F1432E-A579-1356-33C7-8219CC940673}"/>
                  </a:ext>
                </a:extLst>
              </p14:cNvPr>
              <p14:cNvContentPartPr/>
              <p14:nvPr/>
            </p14:nvContentPartPr>
            <p14:xfrm>
              <a:off x="5476908" y="374123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F1432E-A579-1356-33C7-8219CC9406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70788" y="37351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67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8D2588-B238-B0A3-069E-00079B23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902" y="1045028"/>
            <a:ext cx="5812196" cy="387479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&amp; Algorithm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0D8810-7CB6-CD3E-D54F-13AA23BBB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889001"/>
            <a:ext cx="11531600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Diagram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Highlights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 Hz loop via micros() timing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Peak detection toggles rising flag on φ vs.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φPrev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Rolling average over BUF_SIZE=5 for step length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output: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phiMax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dtStep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avgStepLen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avgStrideLen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54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1B1E16-FBF7-E80D-CEB2-147F36C1B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936998"/>
            <a:ext cx="468033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Volunteer walks 7.0 m corridor at varied speeds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placement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0.1 m lateral offset from knee pivot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logging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Serial CSV captured via IDE Cool Term and saved</a:t>
            </a:r>
          </a:p>
        </p:txBody>
      </p:sp>
      <p:pic>
        <p:nvPicPr>
          <p:cNvPr id="6" name="Picture 5" descr="A hallway with a wood floor and a wood floor&#10;&#10;AI-generated content may be incorrect.">
            <a:extLst>
              <a:ext uri="{FF2B5EF4-FFF2-40B4-BE49-F238E27FC236}">
                <a16:creationId xmlns:a16="http://schemas.microsoft.com/office/drawing/2014/main" id="{DB92B155-128A-876B-DB98-99B8317A9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01" y="936998"/>
            <a:ext cx="4072542" cy="5430058"/>
          </a:xfrm>
          <a:prstGeom prst="rect">
            <a:avLst/>
          </a:prstGeom>
        </p:spPr>
      </p:pic>
      <p:pic>
        <p:nvPicPr>
          <p:cNvPr id="9" name="Picture 8" descr="A pair of pants with a clip attached to the leg&#10;&#10;AI-generated content may be incorrect.">
            <a:extLst>
              <a:ext uri="{FF2B5EF4-FFF2-40B4-BE49-F238E27FC236}">
                <a16:creationId xmlns:a16="http://schemas.microsoft.com/office/drawing/2014/main" id="{B1CD1930-F1CC-BDC0-520B-BB94B08A6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900" y="1881675"/>
            <a:ext cx="2479027" cy="44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6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85AA0-BEBF-94D2-CECD-330A793D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BEF40-0A78-54B1-EFDA-5B194B8E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Log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0E4AC-A745-9087-1A10-1B6350D1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662" y="1028960"/>
            <a:ext cx="6822155" cy="3095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6B4F3E-7C4E-020B-6F2D-EDEEDB163F08}"/>
              </a:ext>
            </a:extLst>
          </p:cNvPr>
          <p:cNvSpPr txBox="1"/>
          <p:nvPr/>
        </p:nvSpPr>
        <p:spPr>
          <a:xfrm>
            <a:off x="330199" y="1548881"/>
            <a:ext cx="4680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serial plotter showing the raw data capturing step frequency on y- axis with respect to time.</a:t>
            </a:r>
            <a:br>
              <a:rPr lang="en-IN" sz="2400" dirty="0"/>
            </a:br>
            <a:br>
              <a:rPr lang="en-IN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814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E9A5E-52B9-7826-D96D-0F182E0A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42346D-D5E4-B161-F112-40D897DC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NN Model Validation</a:t>
            </a:r>
            <a:endParaRPr lang="en-US" dirty="0"/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6CB7DA4C-A138-13D6-4293-DAF67D8E9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271" y="1075236"/>
            <a:ext cx="4372584" cy="390952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A65ECD-F626-3634-1D43-EBFDB1703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553" y="2232390"/>
            <a:ext cx="4092754" cy="2393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3D639B-85D1-BE86-5EF0-8EA1C241DE92}"/>
              </a:ext>
            </a:extLst>
          </p:cNvPr>
          <p:cNvSpPr txBox="1"/>
          <p:nvPr/>
        </p:nvSpPr>
        <p:spPr>
          <a:xfrm>
            <a:off x="2827176" y="5253135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Test Accuracy: 0.96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4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F4303-A8E6-493A-ADD4-0EA92BFBB918}"/>
              </a:ext>
            </a:extLst>
          </p:cNvPr>
          <p:cNvSpPr txBox="1"/>
          <p:nvPr/>
        </p:nvSpPr>
        <p:spPr>
          <a:xfrm>
            <a:off x="330200" y="963908"/>
            <a:ext cx="6378510" cy="238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Speed Estimation: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Raw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±0.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m/s spikes at large φₘₐₓ.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Time‐series plot: smooth 0.5–1.5 m/s profile.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Achieved walking speeds from ~0.3 to 1.8 m/s, matching expected range.</a:t>
            </a:r>
            <a:endParaRPr lang="en-US" altLang="ko-KR" sz="2400" b="1" dirty="0">
              <a:effectLst/>
              <a:latin typeface="Arial" panose="020B0604020202020204" pitchFamily="34" charset="0"/>
              <a:ea typeface="Noto Sans Symbols"/>
              <a:cs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</a:t>
            </a:r>
            <a:r>
              <a:rPr lang="en-US" dirty="0" err="1"/>
              <a:t>esults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1C73AF-C965-DB81-E575-E6105680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6" y="4517946"/>
            <a:ext cx="5549046" cy="1658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1725F9-0856-8A26-36F0-EE0ED0CC7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594" y="3868794"/>
            <a:ext cx="5100943" cy="2308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233407-AAAE-FBF8-9547-4032F301E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96" y="963908"/>
            <a:ext cx="4322908" cy="268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55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7127AB-6F3F-4A75-8AD3-285D2066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&amp; Validation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8447F2-3542-13E0-9F4A-E03396FA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800433"/>
            <a:ext cx="1157566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Meets report goals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eal‑time</a:t>
            </a:r>
            <a:r>
              <a:rPr lang="en-US" altLang="en-US" sz="2400" dirty="0">
                <a:latin typeface="Arial" panose="020B0604020202020204" pitchFamily="34" charset="0"/>
              </a:rPr>
              <a:t>,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ow‑cost,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ully on-device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​</a:t>
            </a:r>
          </a:p>
          <a:p>
            <a:pPr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Mounting stability, Per‑user calibration. </a:t>
            </a:r>
            <a:br>
              <a:rPr lang="en-US" sz="2400" dirty="0"/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Tested on a single volunteer walking in a straight corridor.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Needs more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across: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Diverse users (age, leg geometry, gait patterns)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Varied real‑world terrains (uneven ground, stairs, turns)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Longer recording sessions (fatigue, day‑to‑day variability)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Mitigations: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oving average.</a:t>
            </a:r>
          </a:p>
        </p:txBody>
      </p:sp>
    </p:spTree>
    <p:extLst>
      <p:ext uri="{BB962C8B-B14F-4D97-AF65-F5344CB8AC3E}">
        <p14:creationId xmlns:p14="http://schemas.microsoft.com/office/powerpoint/2010/main" val="359451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4D3BD-6BA2-C0DD-31E2-27317510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21E321-1612-5770-605B-CF61A587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&amp;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18082B-F1DD-E874-D7E9-987818DFC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28" y="1613118"/>
            <a:ext cx="860203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Multi‑sensor fusion (hip + knee) for robustness.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trials on elderly/Parkinson’s cohorts.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&amp; ergonomic enclosure design.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in smart‑city and tele‑health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60B71-E538-FF1E-B168-78F546BED205}"/>
              </a:ext>
            </a:extLst>
          </p:cNvPr>
          <p:cNvSpPr txBox="1"/>
          <p:nvPr/>
        </p:nvSpPr>
        <p:spPr>
          <a:xfrm>
            <a:off x="1996751" y="3970090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achieves a 95% test accuracy on our single-subject dataset, with the majority of errors coming at the "Normal"/"Fast" boundary. This proves that, on an edge device, even a rudimentary two-feature, two-layer MLP can reliably differentiate across wide walking-speed categories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3581942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00B8E1-7AC8-4843-FA3E-7E5D6902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405A92-70D2-CD50-5163-8F3C4F50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&amp;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225B2-BA71-059D-B658-261631A0133B}"/>
              </a:ext>
            </a:extLst>
          </p:cNvPr>
          <p:cNvSpPr txBox="1"/>
          <p:nvPr/>
        </p:nvSpPr>
        <p:spPr>
          <a:xfrm>
            <a:off x="330200" y="889001"/>
            <a:ext cx="11531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endParaRPr lang="en-A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dirty="0">
                <a:latin typeface="Times New Roman" panose="02020603050405020304" pitchFamily="18" charset="0"/>
                <a:ea typeface="SimSun" panose="02010600030101010101" pitchFamily="2" charset="-122"/>
              </a:rPr>
              <a:t>S. Abdollah </a:t>
            </a:r>
            <a:r>
              <a:rPr lang="en-AU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Mirbozorgi</a:t>
            </a:r>
            <a:endParaRPr lang="en-AU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dirty="0">
                <a:latin typeface="Times New Roman" panose="02020603050405020304" pitchFamily="18" charset="0"/>
                <a:ea typeface="SimSun" panose="02010600030101010101" pitchFamily="2" charset="-122"/>
              </a:rPr>
              <a:t>ChatGPT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endParaRPr lang="en-AU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Prasanth, H., Caban, M., Keller, U., Courtine, G.,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Ijspeert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A., Vallery, H., &amp; von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Zitzewitz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J. (2021). Wearable Sensor-Based Real-Time Gait Detection: A Systematic Review.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Sensors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21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(8), 2727. https://doi.org/10.3390/s21082727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J. Breckling, Ed.,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Analysis of Directional Time Series: Applications to Wind Speed and Direction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ser. Lecture Notes in Statistics.  Berlin, Germany: Springer, 1989, vol. 61.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Ugbolue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U. C., Papi, E.,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Kaliarntas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K. T., Kerr, A., Earl, L., Pomeroy, V. M., &amp; Rowe, P. J. (2013). The evaluation of an inexpensive, 2D, video-based gait assessment system for clinical use.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Gait &amp; posture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38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(3), 483-489.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Zsolt Knoll, László Kocsis, Rita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Kiss,Ultrasound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-based measurement method for gait analysis using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treadmill,IFAC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Proceedings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Volumes,Volume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36, Issue 15,2003,Pages 347-352,ISSN 1474-6670,https://doi.org/10.1016/S1474-6670(17)33527-9.</a:t>
            </a:r>
          </a:p>
          <a:p>
            <a:pPr marL="182880" marR="0" indent="0" algn="just">
              <a:buNone/>
              <a:tabLst>
                <a:tab pos="27432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(https://www.sciencedirect.com/science/article/pii/S1474667017335279)M.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Wegmuller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J. P. von der Weid, P. Oberson, and N. Gisin, “High resolution fiber distributed measurements with coherent OFDR,” in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Proc. ECOC’00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2000, paper 11.3.4, p. 109.</a:t>
            </a:r>
          </a:p>
        </p:txBody>
      </p:sp>
    </p:spTree>
    <p:extLst>
      <p:ext uri="{BB962C8B-B14F-4D97-AF65-F5344CB8AC3E}">
        <p14:creationId xmlns:p14="http://schemas.microsoft.com/office/powerpoint/2010/main" val="3280930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837631-31FB-13DC-8027-056A7BC39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EE5712-C6F7-3E28-5791-621FD6B8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1A1E7-3249-0AB2-38DD-674414774C2E}"/>
              </a:ext>
            </a:extLst>
          </p:cNvPr>
          <p:cNvSpPr txBox="1"/>
          <p:nvPr/>
        </p:nvSpPr>
        <p:spPr>
          <a:xfrm>
            <a:off x="330199" y="1055191"/>
            <a:ext cx="1156633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Liu, Y., An, H., Ma, H., &amp; Wei, Q. (2023). Online Walking Speed Estimation Based on Gait Phase and Kinematic Model for Intelligent Lower-Limb Prosthesis.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Applied Sciences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13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(3), 1893. https://doi.org/10.3390/app13031893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Paramasivam, A., Jenath, M., Sivakumaran, T. S., Sankaran, S.,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Pittu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P. S. K. R., &amp; Vijayalakshmi, S. (2024). Development of artificial intelligence edge computing based wearable device for fall detection and prevention of elderly people. </a:t>
            </a:r>
            <a:r>
              <a:rPr lang="en-AU" sz="1800" i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Heliyon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 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(8).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Bauer, E. K., Bultmann, S., &amp; Behnke, S. (2024). Marker-free human gait analysis using a smart edge sensor system. </a:t>
            </a:r>
            <a:r>
              <a:rPr lang="en-AU" sz="1800" i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arXiv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preprint arXiv:2411.09538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</a:t>
            </a:r>
            <a:r>
              <a:rPr lang="en-AU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2"/>
              </a:rPr>
              <a:t>https://doi.org/10.48550/arXiv.2411.09538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(2007) 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IEEE website. [Online]. Available: http://www.ieee.org/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Enhancing Intelligent Shoes with Gait Analysis: A Review on the Integration of Inertial Measurement Units. 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Sensors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2024. </a:t>
            </a:r>
            <a:r>
              <a:rPr lang="en-AU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3"/>
              </a:rPr>
              <a:t>https://www.mdpi.com/1424-8220/24/24/7880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​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AU" sz="1800" i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FLEXChip</a:t>
            </a:r>
            <a:r>
              <a:rPr lang="en-AU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Signal Processor (MC68175/D)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Motorola, 1996.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Bucinskas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V,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Dzedzickis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A, Rozene J,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Subaciute-Zemaitiene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J,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Satkauskas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I,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Uvarovas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V, Bobina R,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Morkvenaite-Vilkonciene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I. Wearable Feet Pressure Sensor for Human Gait and Falling Diagnosis. Sensors (Basel). 2021 Aug 3;21(15):5240.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doi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10.3390/s21155240. PMID: 34372477; PMCID: PMC8347941.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27432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Saha SS,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Sandha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SS, Srivastava M. Machine Learning for Microcontroller-Class Hardware: A Review. IEEE Sens J. 2022 Nov 15;22(22):21362-21390.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doi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10.1109/jsen.2022.3210773.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Epub</a:t>
            </a:r>
            <a:r>
              <a:rPr lang="en-A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2022 Oct 5. PMID: 36439060; PMCID: PMC9683383.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377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1259</Words>
  <Application>Microsoft Office PowerPoint</Application>
  <PresentationFormat>Widescreen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Times New Roman</vt:lpstr>
      <vt:lpstr>Office 테마</vt:lpstr>
      <vt:lpstr>1_Office 테마</vt:lpstr>
      <vt:lpstr>PowerPoint Presentation</vt:lpstr>
      <vt:lpstr>Overview</vt:lpstr>
      <vt:lpstr>Motivation</vt:lpstr>
      <vt:lpstr>Problem Statement</vt:lpstr>
      <vt:lpstr>Comparison &amp; Required Features </vt:lpstr>
      <vt:lpstr>Proposed Concept</vt:lpstr>
      <vt:lpstr>System Architecture &amp; Algorithm</vt:lpstr>
      <vt:lpstr>Experimental Setup</vt:lpstr>
      <vt:lpstr>Data Log </vt:lpstr>
      <vt:lpstr>NN Model Validation</vt:lpstr>
      <vt:lpstr>Results</vt:lpstr>
      <vt:lpstr>Discussion &amp; Validation</vt:lpstr>
      <vt:lpstr>Future Work &amp; Impact</vt:lpstr>
      <vt:lpstr>Acknowledgements &amp; 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Inyoub Kim</dc:creator>
  <cp:lastModifiedBy>CHARITH.S.S ALE</cp:lastModifiedBy>
  <cp:revision>46</cp:revision>
  <dcterms:created xsi:type="dcterms:W3CDTF">2021-03-04T02:28:42Z</dcterms:created>
  <dcterms:modified xsi:type="dcterms:W3CDTF">2025-05-02T02:55:36Z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2025-04-04T19:14:15Z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c3e3ce6f-04ff-4446-bbab-4b512f2a9fbd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10, 3, 0, 1</vt:lpwstr>
  </property>
</Properties>
</file>